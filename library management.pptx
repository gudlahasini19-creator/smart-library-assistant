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CE117-4BF1-4AAF-8CB2-FD355A5844B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B92CF-BAF9-4B81-B36B-A19347E89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446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CE117-4BF1-4AAF-8CB2-FD355A5844B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B92CF-BAF9-4B81-B36B-A19347E89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250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CE117-4BF1-4AAF-8CB2-FD355A5844B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B92CF-BAF9-4B81-B36B-A19347E89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14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CE117-4BF1-4AAF-8CB2-FD355A5844B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B92CF-BAF9-4B81-B36B-A19347E89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4278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CE117-4BF1-4AAF-8CB2-FD355A5844B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B92CF-BAF9-4B81-B36B-A19347E89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595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CE117-4BF1-4AAF-8CB2-FD355A5844B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B92CF-BAF9-4B81-B36B-A19347E89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589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CE117-4BF1-4AAF-8CB2-FD355A5844B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B92CF-BAF9-4B81-B36B-A19347E89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972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CE117-4BF1-4AAF-8CB2-FD355A5844B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B92CF-BAF9-4B81-B36B-A19347E89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650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CE117-4BF1-4AAF-8CB2-FD355A5844B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B92CF-BAF9-4B81-B36B-A19347E89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598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CE117-4BF1-4AAF-8CB2-FD355A5844B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B92CF-BAF9-4B81-B36B-A19347E89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65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CE117-4BF1-4AAF-8CB2-FD355A5844B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B92CF-BAF9-4B81-B36B-A19347E89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440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CE117-4BF1-4AAF-8CB2-FD355A5844B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B92CF-BAF9-4B81-B36B-A19347E898A4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2343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CE117-4BF1-4AAF-8CB2-FD355A5844B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B92CF-BAF9-4B81-B36B-A19347E89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876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CE117-4BF1-4AAF-8CB2-FD355A5844B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B92CF-BAF9-4B81-B36B-A19347E89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5361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CE117-4BF1-4AAF-8CB2-FD355A5844B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B92CF-BAF9-4B81-B36B-A19347E89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7327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CE117-4BF1-4AAF-8CB2-FD355A5844B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B92CF-BAF9-4B81-B36B-A19347E89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015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CE117-4BF1-4AAF-8CB2-FD355A5844B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B92CF-BAF9-4B81-B36B-A19347E89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797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0CCE117-4BF1-4AAF-8CB2-FD355A5844BB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B92CF-BAF9-4B81-B36B-A19347E89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1981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  <p:sldLayoutId id="2147483859" r:id="rId13"/>
    <p:sldLayoutId id="2147483860" r:id="rId14"/>
    <p:sldLayoutId id="2147483861" r:id="rId15"/>
    <p:sldLayoutId id="2147483862" r:id="rId16"/>
    <p:sldLayoutId id="214748386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AF71E-8866-F09D-E3E4-6E4EFB49B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775" y="948077"/>
            <a:ext cx="12199620" cy="769620"/>
          </a:xfrm>
        </p:spPr>
        <p:txBody>
          <a:bodyPr>
            <a:normAutofit/>
          </a:bodyPr>
          <a:lstStyle/>
          <a:p>
            <a:r>
              <a:rPr lang="en-IN" sz="4000" u="sng" dirty="0"/>
              <a:t>LIBRARY BOOK RECOMMENDATION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F297F3-4D6B-180B-1EAA-AEFA64CCC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170" y="1905001"/>
            <a:ext cx="11974830" cy="5463539"/>
          </a:xfrm>
        </p:spPr>
        <p:txBody>
          <a:bodyPr>
            <a:normAutofit/>
          </a:bodyPr>
          <a:lstStyle/>
          <a:p>
            <a:pPr algn="l"/>
            <a:r>
              <a:rPr lang="en-IN" sz="1800" b="1" dirty="0"/>
              <a:t>One-line Idea:</a:t>
            </a:r>
          </a:p>
          <a:p>
            <a:pPr algn="l"/>
            <a:r>
              <a:rPr lang="en-IN" sz="1600" dirty="0"/>
              <a:t>“Find the right book faster and discover what to read next.”</a:t>
            </a:r>
          </a:p>
          <a:p>
            <a:pPr algn="l"/>
            <a:r>
              <a:rPr lang="en-IN" sz="1800" b="1" dirty="0"/>
              <a:t>Our Idea:</a:t>
            </a:r>
          </a:p>
          <a:p>
            <a:pPr algn="l"/>
            <a:r>
              <a:rPr lang="en-IN" sz="1600" dirty="0"/>
              <a:t>A smart library assistant that </a:t>
            </a:r>
            <a:r>
              <a:rPr lang="en-IN" sz="1600" b="1" dirty="0"/>
              <a:t>quickly searches books and recommends related titles</a:t>
            </a:r>
            <a:r>
              <a:rPr lang="en-IN" sz="1600" dirty="0"/>
              <a:t> using categories, authors, borrowing patterns, and relationships between books.</a:t>
            </a:r>
          </a:p>
          <a:p>
            <a:pPr algn="l"/>
            <a:r>
              <a:rPr lang="en-IN" sz="1800" b="1" dirty="0"/>
              <a:t>Problem Domain:</a:t>
            </a:r>
          </a:p>
          <a:p>
            <a:pPr algn="l"/>
            <a:r>
              <a:rPr lang="en-IN" sz="1600" dirty="0"/>
              <a:t>Library Management ,Smart Search ,Recommendation System</a:t>
            </a:r>
          </a:p>
          <a:p>
            <a:pPr algn="l"/>
            <a:r>
              <a:rPr lang="en-IN" b="1" dirty="0"/>
              <a:t>Team Members</a:t>
            </a:r>
          </a:p>
          <a:p>
            <a:pPr lvl="0" algn="l"/>
            <a:r>
              <a:rPr lang="en-IN" dirty="0"/>
              <a:t>Member 1 — G.HANSINI REDDY(25MVCSMR0034)</a:t>
            </a:r>
          </a:p>
          <a:p>
            <a:pPr lvl="0" algn="l"/>
            <a:r>
              <a:rPr lang="en-IN" dirty="0"/>
              <a:t>Member 2 — G.HASINI(25MVCSMR0038)</a:t>
            </a:r>
          </a:p>
          <a:p>
            <a:pPr algn="l"/>
            <a:r>
              <a:rPr lang="en-IN" dirty="0"/>
              <a:t>Member 3 — M.TRUPTIREKHA(25MVCSMR0085)</a:t>
            </a:r>
          </a:p>
          <a:p>
            <a:pPr lvl="0" algn="l"/>
            <a:r>
              <a:rPr lang="en-IN" dirty="0"/>
              <a:t>Member 4 — V.AISHWARYA(25MVCSMR0088)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569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BE248-6358-B59C-852D-15829A173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THE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E1894-42FA-E9F3-CC1E-EBA4CE158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" y="1577340"/>
            <a:ext cx="11993880" cy="459962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300" b="1" dirty="0"/>
              <a:t>The Real-World Problem:</a:t>
            </a:r>
          </a:p>
          <a:p>
            <a:pPr marL="0" indent="0">
              <a:buNone/>
            </a:pPr>
            <a:r>
              <a:rPr lang="en-IN" sz="1600" dirty="0"/>
              <a:t>Traditional library systems often help users </a:t>
            </a:r>
            <a:r>
              <a:rPr lang="en-IN" sz="1600" b="1" dirty="0"/>
              <a:t>find a specific book</a:t>
            </a:r>
            <a:r>
              <a:rPr lang="en-IN" sz="1600" dirty="0"/>
              <a:t>, but don't necessarily  help   them </a:t>
            </a:r>
            <a:r>
              <a:rPr lang="en-IN" sz="1600" b="1" dirty="0"/>
              <a:t>discover what to read next</a:t>
            </a:r>
            <a:r>
              <a:rPr lang="en-IN" sz="1600" dirty="0"/>
              <a:t>.</a:t>
            </a:r>
          </a:p>
          <a:p>
            <a:pPr marL="0" indent="0">
              <a:buNone/>
            </a:pPr>
            <a:r>
              <a:rPr lang="en-IN" sz="2100" b="1" dirty="0"/>
              <a:t>Problems Faced:</a:t>
            </a:r>
          </a:p>
          <a:p>
            <a:pPr marL="0" indent="0">
              <a:buNone/>
            </a:pPr>
            <a:r>
              <a:rPr lang="en-IN" sz="1900" dirty="0"/>
              <a:t>=&gt; </a:t>
            </a:r>
            <a:r>
              <a:rPr lang="en-IN" sz="1900" b="1" dirty="0"/>
              <a:t>Slow Discovery</a:t>
            </a:r>
            <a:br>
              <a:rPr lang="en-IN" sz="1900" dirty="0"/>
            </a:br>
            <a:r>
              <a:rPr lang="en-IN" sz="1900" dirty="0"/>
              <a:t>Users may spend time browsing large collections.</a:t>
            </a:r>
          </a:p>
          <a:p>
            <a:pPr marL="0" indent="0">
              <a:buNone/>
            </a:pPr>
            <a:r>
              <a:rPr lang="en-IN" sz="1900" dirty="0"/>
              <a:t>=&gt; </a:t>
            </a:r>
            <a:r>
              <a:rPr lang="en-IN" sz="1900" b="1" dirty="0"/>
              <a:t>Information Overload</a:t>
            </a:r>
            <a:br>
              <a:rPr lang="en-IN" sz="1900" dirty="0"/>
            </a:br>
            <a:r>
              <a:rPr lang="en-IN" sz="1900" dirty="0"/>
              <a:t>Thousands of books make selection difficult.</a:t>
            </a:r>
          </a:p>
          <a:p>
            <a:pPr marL="0" indent="0">
              <a:buNone/>
            </a:pPr>
            <a:r>
              <a:rPr lang="en-IN" sz="1700" dirty="0"/>
              <a:t>=&gt; </a:t>
            </a:r>
            <a:r>
              <a:rPr lang="en-IN" sz="1700" b="1" dirty="0"/>
              <a:t>Limited Recommendations</a:t>
            </a:r>
            <a:br>
              <a:rPr lang="en-IN" sz="1700" dirty="0"/>
            </a:br>
            <a:r>
              <a:rPr lang="en-IN" sz="1700" dirty="0"/>
              <a:t>Basic systems may not consider a user's borrowing </a:t>
            </a:r>
            <a:r>
              <a:rPr lang="en-IN" sz="1700" dirty="0" err="1"/>
              <a:t>behavior</a:t>
            </a:r>
            <a:r>
              <a:rPr lang="en-IN" sz="1700" dirty="0"/>
              <a:t>.</a:t>
            </a:r>
          </a:p>
          <a:p>
            <a:pPr marL="0" indent="0">
              <a:buNone/>
            </a:pPr>
            <a:r>
              <a:rPr lang="en-IN" sz="1700" dirty="0"/>
              <a:t>=&gt; </a:t>
            </a:r>
            <a:r>
              <a:rPr lang="en-IN" sz="1700" b="1" dirty="0"/>
              <a:t>Hidden Relationships</a:t>
            </a:r>
            <a:br>
              <a:rPr lang="en-IN" sz="1700" dirty="0"/>
            </a:br>
            <a:r>
              <a:rPr lang="en-IN" sz="1700" dirty="0"/>
              <a:t>Related books, authors and categories may not be obvious.</a:t>
            </a:r>
          </a:p>
          <a:p>
            <a:pPr marL="0" indent="0">
              <a:buNone/>
            </a:pPr>
            <a:r>
              <a:rPr lang="en-IN" sz="1700" b="1" dirty="0"/>
              <a:t>Why It Matters?</a:t>
            </a:r>
          </a:p>
          <a:p>
            <a:pPr marL="0" indent="0">
              <a:buNone/>
            </a:pPr>
            <a:r>
              <a:rPr lang="en-IN" sz="1700" b="1" dirty="0"/>
              <a:t>-The challenge isn't only finding a book — it's finding the RIGHT next book.</a:t>
            </a:r>
            <a:endParaRPr lang="en-IN" sz="17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25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5BD58-3677-3066-0A02-67637653B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OUR INNOVATION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39693-AE06-7CEF-6A65-8AE02FA75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0" y="1447800"/>
            <a:ext cx="11887200" cy="504507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3300" b="1" dirty="0"/>
              <a:t>From Book Search → Smart Book Discovery</a:t>
            </a:r>
          </a:p>
          <a:p>
            <a:pPr marL="0" indent="0">
              <a:buNone/>
            </a:pPr>
            <a:r>
              <a:rPr lang="en-IN" dirty="0"/>
              <a:t>Our system combines </a:t>
            </a:r>
            <a:r>
              <a:rPr lang="en-IN" b="1" dirty="0"/>
              <a:t>multiple sources of information</a:t>
            </a:r>
            <a:r>
              <a:rPr lang="en-IN" dirty="0"/>
              <a:t> instead of relying only on keywords.</a:t>
            </a:r>
          </a:p>
          <a:p>
            <a:pPr marL="0" indent="0">
              <a:buNone/>
            </a:pPr>
            <a:r>
              <a:rPr lang="en-IN" sz="3300" b="1" dirty="0"/>
              <a:t>Core Idea:</a:t>
            </a:r>
          </a:p>
          <a:p>
            <a:pPr marL="0" indent="0">
              <a:buNone/>
            </a:pPr>
            <a:r>
              <a:rPr lang="en-IN" b="1" dirty="0"/>
              <a:t>Search + Relationships + Borrowing Patterns = Smart Recommendations</a:t>
            </a:r>
            <a:endParaRPr lang="en-IN" dirty="0"/>
          </a:p>
          <a:p>
            <a:pPr marL="0" indent="0">
              <a:buNone/>
            </a:pPr>
            <a:r>
              <a:rPr lang="en-IN" sz="3300" b="1" dirty="0"/>
              <a:t>Key Features:</a:t>
            </a:r>
          </a:p>
          <a:p>
            <a:pPr marL="0" indent="0">
              <a:buNone/>
            </a:pPr>
            <a:r>
              <a:rPr lang="en-IN" sz="2900" b="1" dirty="0"/>
              <a:t>     Fast Search                                                 - </a:t>
            </a:r>
            <a:r>
              <a:rPr lang="en-IN" sz="2900" dirty="0"/>
              <a:t>Find books efficiently.</a:t>
            </a:r>
          </a:p>
          <a:p>
            <a:pPr marL="0" indent="0">
              <a:buNone/>
            </a:pPr>
            <a:r>
              <a:rPr lang="en-IN" sz="2900" dirty="0"/>
              <a:t>     </a:t>
            </a:r>
            <a:r>
              <a:rPr lang="en-IN" sz="2900" b="1" dirty="0"/>
              <a:t>Personalized Recommendations             - </a:t>
            </a:r>
            <a:r>
              <a:rPr lang="en-IN" sz="2900" dirty="0"/>
              <a:t>Uses borrowing history and interests.</a:t>
            </a:r>
          </a:p>
          <a:p>
            <a:pPr marL="0" indent="0">
              <a:buNone/>
            </a:pPr>
            <a:r>
              <a:rPr lang="en-IN" sz="2900" dirty="0"/>
              <a:t>     </a:t>
            </a:r>
            <a:r>
              <a:rPr lang="en-IN" sz="2900" b="1" dirty="0"/>
              <a:t>Book Relationship Graph                          - </a:t>
            </a:r>
            <a:r>
              <a:rPr lang="en-IN" sz="2900" dirty="0"/>
              <a:t>Connects related books.</a:t>
            </a:r>
          </a:p>
          <a:p>
            <a:pPr marL="0" indent="0">
              <a:buNone/>
            </a:pPr>
            <a:br>
              <a:rPr lang="en-IN" sz="2900" dirty="0"/>
            </a:br>
            <a:r>
              <a:rPr lang="en-IN" sz="3300" b="1" dirty="0"/>
              <a:t>Considers:</a:t>
            </a:r>
          </a:p>
          <a:p>
            <a:pPr lvl="0"/>
            <a:r>
              <a:rPr lang="en-IN" sz="2900" dirty="0"/>
              <a:t>Category </a:t>
            </a:r>
          </a:p>
          <a:p>
            <a:pPr lvl="0"/>
            <a:r>
              <a:rPr lang="en-IN" sz="2900" dirty="0"/>
              <a:t>Author </a:t>
            </a:r>
          </a:p>
          <a:p>
            <a:pPr lvl="0"/>
            <a:r>
              <a:rPr lang="en-IN" sz="2900" dirty="0"/>
              <a:t>Borrowing patterns </a:t>
            </a:r>
          </a:p>
          <a:p>
            <a:pPr lvl="0"/>
            <a:r>
              <a:rPr lang="en-IN" sz="2900" dirty="0"/>
              <a:t>Related books </a:t>
            </a:r>
          </a:p>
          <a:p>
            <a:pPr marL="0" indent="0">
              <a:buNone/>
            </a:pPr>
            <a:r>
              <a:rPr lang="en-IN" sz="3300" b="1" dirty="0"/>
              <a:t>Our Unique Approach</a:t>
            </a:r>
          </a:p>
          <a:p>
            <a:pPr marL="0" indent="0">
              <a:buNone/>
            </a:pPr>
            <a:r>
              <a:rPr lang="en-IN" sz="2900" b="1" dirty="0"/>
              <a:t>Graph algorithms + search algorithms + borrowing behaviour in one library assistant</a:t>
            </a:r>
            <a:endParaRPr lang="en-IN" sz="29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2046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47E66-5C34-C0C0-1A6B-A25EA403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" y="4794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B7D58-F00B-FA9F-0979-01FF964BD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8" y="1178421"/>
            <a:ext cx="4900152" cy="558813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1800" b="1" u="sng" dirty="0"/>
              <a:t>Simple Workflow</a:t>
            </a:r>
          </a:p>
          <a:p>
            <a:pPr marL="0" indent="0" algn="ctr">
              <a:buNone/>
            </a:pPr>
            <a:r>
              <a:rPr lang="en-IN" sz="1200" dirty="0"/>
              <a:t>USER</a:t>
            </a:r>
          </a:p>
          <a:p>
            <a:pPr marL="0" indent="0" algn="ctr">
              <a:buNone/>
            </a:pPr>
            <a:r>
              <a:rPr lang="en-IN" sz="1200" dirty="0"/>
              <a:t>   ↓</a:t>
            </a:r>
          </a:p>
          <a:p>
            <a:pPr marL="0" indent="0" algn="ctr">
              <a:buNone/>
            </a:pPr>
            <a:r>
              <a:rPr lang="en-IN" sz="1200" dirty="0"/>
              <a:t>Search / Select a Book</a:t>
            </a:r>
          </a:p>
          <a:p>
            <a:pPr marL="0" indent="0" algn="ctr">
              <a:buNone/>
            </a:pPr>
            <a:r>
              <a:rPr lang="en-IN" sz="1200" dirty="0"/>
              <a:t>   ↓</a:t>
            </a:r>
          </a:p>
          <a:p>
            <a:pPr marL="0" indent="0" algn="ctr">
              <a:buNone/>
            </a:pPr>
            <a:r>
              <a:rPr lang="en-IN" sz="1200" dirty="0"/>
              <a:t> Binary Search</a:t>
            </a:r>
          </a:p>
          <a:p>
            <a:pPr marL="0" indent="0" algn="ctr">
              <a:buNone/>
            </a:pPr>
            <a:r>
              <a:rPr lang="en-IN" sz="1200" dirty="0"/>
              <a:t>   ↓</a:t>
            </a:r>
          </a:p>
          <a:p>
            <a:pPr marL="0" indent="0" algn="ctr">
              <a:buNone/>
            </a:pPr>
            <a:r>
              <a:rPr lang="en-IN" sz="1200" dirty="0"/>
              <a:t> Book Information</a:t>
            </a:r>
          </a:p>
          <a:p>
            <a:pPr marL="0" indent="0" algn="ctr">
              <a:buNone/>
            </a:pPr>
            <a:r>
              <a:rPr lang="en-IN" sz="1200" dirty="0"/>
              <a:t>   ↓</a:t>
            </a:r>
          </a:p>
          <a:p>
            <a:pPr marL="0" indent="0" algn="ctr">
              <a:buNone/>
            </a:pPr>
            <a:r>
              <a:rPr lang="en-IN" sz="1200" dirty="0"/>
              <a:t> </a:t>
            </a:r>
            <a:r>
              <a:rPr lang="en-IN" sz="1200" dirty="0" err="1"/>
              <a:t>Analyze</a:t>
            </a:r>
            <a:r>
              <a:rPr lang="en-IN" sz="1200" dirty="0"/>
              <a:t> Category + Author + Borrowing History</a:t>
            </a:r>
          </a:p>
          <a:p>
            <a:pPr marL="0" indent="0" algn="ctr">
              <a:buNone/>
            </a:pPr>
            <a:r>
              <a:rPr lang="en-IN" sz="1200" dirty="0"/>
              <a:t>  ↓</a:t>
            </a:r>
          </a:p>
          <a:p>
            <a:pPr marL="0" indent="0" algn="ctr">
              <a:buNone/>
            </a:pPr>
            <a:r>
              <a:rPr lang="en-IN" sz="1200" dirty="0"/>
              <a:t>BFS / DFS</a:t>
            </a:r>
          </a:p>
          <a:p>
            <a:pPr marL="0" indent="0" algn="ctr">
              <a:buNone/>
            </a:pPr>
            <a:r>
              <a:rPr lang="en-IN" sz="1200" dirty="0"/>
              <a:t> ↓</a:t>
            </a:r>
          </a:p>
          <a:p>
            <a:pPr marL="0" indent="0" algn="ctr">
              <a:buNone/>
            </a:pPr>
            <a:r>
              <a:rPr lang="en-IN" sz="1200" dirty="0"/>
              <a:t> Generate Related Books</a:t>
            </a:r>
          </a:p>
          <a:p>
            <a:pPr marL="0" indent="0" algn="ctr">
              <a:buNone/>
            </a:pPr>
            <a:r>
              <a:rPr lang="en-IN" sz="1200" dirty="0"/>
              <a:t>  ↓</a:t>
            </a:r>
          </a:p>
          <a:p>
            <a:pPr marL="0" indent="0" algn="ctr">
              <a:buNone/>
            </a:pPr>
            <a:r>
              <a:rPr lang="en-IN" sz="1200" dirty="0"/>
              <a:t> Sort by Relevance</a:t>
            </a:r>
          </a:p>
          <a:p>
            <a:pPr marL="0" indent="0" algn="ctr">
              <a:buNone/>
            </a:pPr>
            <a:r>
              <a:rPr lang="en-IN" sz="1200" dirty="0"/>
              <a:t>  ↓</a:t>
            </a:r>
          </a:p>
          <a:p>
            <a:pPr marL="0" indent="0" algn="ctr">
              <a:buNone/>
            </a:pPr>
            <a:r>
              <a:rPr lang="en-IN" sz="1200" dirty="0"/>
              <a:t> 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74C830-F0FA-4F41-201C-B19076A7943E}"/>
              </a:ext>
            </a:extLst>
          </p:cNvPr>
          <p:cNvSpPr txBox="1"/>
          <p:nvPr/>
        </p:nvSpPr>
        <p:spPr>
          <a:xfrm>
            <a:off x="4983480" y="1432262"/>
            <a:ext cx="688848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u="sng" dirty="0"/>
              <a:t> User Journey:</a:t>
            </a:r>
          </a:p>
          <a:p>
            <a:endParaRPr lang="en-IN" b="1" u="sng" dirty="0"/>
          </a:p>
          <a:p>
            <a:pPr algn="ctr"/>
            <a:r>
              <a:rPr lang="en-IN" b="1" dirty="0"/>
              <a:t>       User searches </a:t>
            </a:r>
            <a:r>
              <a:rPr lang="en-IN" sz="1600" dirty="0"/>
              <a:t>:</a:t>
            </a:r>
          </a:p>
          <a:p>
            <a:pPr algn="ctr"/>
            <a:r>
              <a:rPr lang="en-IN" sz="1600" dirty="0"/>
              <a:t> </a:t>
            </a:r>
            <a:r>
              <a:rPr lang="en-IN" dirty="0"/>
              <a:t>Python Programming</a:t>
            </a:r>
          </a:p>
          <a:p>
            <a:pPr algn="ctr"/>
            <a:r>
              <a:rPr lang="en-IN" dirty="0"/>
              <a:t>   ↓</a:t>
            </a:r>
          </a:p>
          <a:p>
            <a:pPr algn="ctr"/>
            <a:r>
              <a:rPr lang="en-IN" dirty="0"/>
              <a:t>        </a:t>
            </a:r>
            <a:r>
              <a:rPr lang="en-IN" b="1" dirty="0"/>
              <a:t>System identifies:</a:t>
            </a:r>
          </a:p>
          <a:p>
            <a:pPr algn="ctr"/>
            <a:r>
              <a:rPr lang="en-IN" b="1" dirty="0"/>
              <a:t>        Category:</a:t>
            </a:r>
            <a:r>
              <a:rPr lang="en-IN" dirty="0"/>
              <a:t> Programming</a:t>
            </a:r>
            <a:br>
              <a:rPr lang="en-IN" dirty="0"/>
            </a:br>
            <a:r>
              <a:rPr lang="en-IN" b="1" dirty="0"/>
              <a:t>Author:</a:t>
            </a:r>
            <a:r>
              <a:rPr lang="en-IN" dirty="0"/>
              <a:t> XYZ</a:t>
            </a:r>
            <a:br>
              <a:rPr lang="en-IN" dirty="0"/>
            </a:br>
            <a:r>
              <a:rPr lang="en-IN" b="1" dirty="0"/>
              <a:t>Borrowing Pattern:</a:t>
            </a:r>
            <a:r>
              <a:rPr lang="en-IN" dirty="0"/>
              <a:t> Frequently borrowed with Data Science books</a:t>
            </a:r>
          </a:p>
          <a:p>
            <a:pPr algn="ctr"/>
            <a:r>
              <a:rPr lang="en-IN" dirty="0"/>
              <a:t>↓</a:t>
            </a:r>
          </a:p>
          <a:p>
            <a:pPr algn="ctr"/>
            <a:r>
              <a:rPr lang="en-IN" b="1" dirty="0"/>
              <a:t>Graph explores related books:</a:t>
            </a:r>
          </a:p>
          <a:p>
            <a:pPr algn="ctr"/>
            <a:r>
              <a:rPr lang="en-IN" dirty="0"/>
              <a:t>Python → Data Science → Machine Learning → AI</a:t>
            </a:r>
          </a:p>
          <a:p>
            <a:pPr algn="ctr"/>
            <a:r>
              <a:rPr lang="en-IN" dirty="0"/>
              <a:t>↓</a:t>
            </a:r>
          </a:p>
          <a:p>
            <a:pPr algn="ctr"/>
            <a:r>
              <a:rPr lang="en-IN" b="1" dirty="0"/>
              <a:t>Output:</a:t>
            </a:r>
          </a:p>
          <a:p>
            <a:pPr algn="ctr"/>
            <a:r>
              <a:rPr lang="en-IN" dirty="0"/>
              <a:t>Recommended Books</a:t>
            </a:r>
          </a:p>
        </p:txBody>
      </p:sp>
    </p:spTree>
    <p:extLst>
      <p:ext uri="{BB962C8B-B14F-4D97-AF65-F5344CB8AC3E}">
        <p14:creationId xmlns:p14="http://schemas.microsoft.com/office/powerpoint/2010/main" val="4018919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B88DB-2433-6F9E-3972-3E88B1512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/>
              <a:t>TECHNOLOGY &amp; ALGORITHM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924ED1-78B0-48A3-1C96-C3D5ECE531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5864014"/>
              </p:ext>
            </p:extLst>
          </p:nvPr>
        </p:nvGraphicFramePr>
        <p:xfrm>
          <a:off x="342900" y="1532022"/>
          <a:ext cx="10515600" cy="20885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1453778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05526556"/>
                    </a:ext>
                  </a:extLst>
                </a:gridCol>
              </a:tblGrid>
              <a:tr h="415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8673703"/>
                  </a:ext>
                </a:extLst>
              </a:tr>
              <a:tr h="313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4630605"/>
                  </a:ext>
                </a:extLst>
              </a:tr>
              <a:tr h="313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 + Flask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8876800"/>
                  </a:ext>
                </a:extLst>
              </a:tr>
              <a:tr h="313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SQLite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8114874"/>
                  </a:ext>
                </a:extLst>
              </a:tr>
              <a:tr h="575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Algorithms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Binary Search, Sorting, BFS, DFS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86983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24D6716-8457-97B6-5960-52A58D8DCA08}"/>
              </a:ext>
            </a:extLst>
          </p:cNvPr>
          <p:cNvSpPr txBox="1"/>
          <p:nvPr/>
        </p:nvSpPr>
        <p:spPr>
          <a:xfrm>
            <a:off x="289560" y="3944445"/>
            <a:ext cx="108737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Why These Algorithms?</a:t>
            </a:r>
          </a:p>
          <a:p>
            <a:endParaRPr lang="en-IN" b="1" dirty="0"/>
          </a:p>
          <a:p>
            <a:r>
              <a:rPr lang="en-IN" dirty="0"/>
              <a:t>Binary Search               :Fast searching in sorted book data, O(log n)</a:t>
            </a:r>
          </a:p>
          <a:p>
            <a:r>
              <a:rPr lang="en-IN" dirty="0"/>
              <a:t>Sorting                           :Organizes books and recommendation results</a:t>
            </a:r>
          </a:p>
          <a:p>
            <a:r>
              <a:rPr lang="en-IN" dirty="0"/>
              <a:t>BFS                                 :Finds closely connected/nearby books in the graph</a:t>
            </a:r>
          </a:p>
          <a:p>
            <a:r>
              <a:rPr lang="en-IN" dirty="0"/>
              <a:t>DFS                                :Explores deeper relationships between books</a:t>
            </a:r>
          </a:p>
          <a:p>
            <a:r>
              <a:rPr lang="en-IN" dirty="0"/>
              <a:t>Architecture                :React UI → Flask API → Recommendation Engine → SQLite</a:t>
            </a:r>
          </a:p>
        </p:txBody>
      </p:sp>
    </p:spTree>
    <p:extLst>
      <p:ext uri="{BB962C8B-B14F-4D97-AF65-F5344CB8AC3E}">
        <p14:creationId xmlns:p14="http://schemas.microsoft.com/office/powerpoint/2010/main" val="785390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433E0-A065-F720-288B-8EB3FE422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 &amp; IMPACT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D2236C-D779-BE6A-8E26-5FD0B51ABD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89" y="1405466"/>
            <a:ext cx="4985512" cy="48683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BF96AF-A4C0-3B09-548F-68F45BBF62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9666" y="1405466"/>
            <a:ext cx="5746223" cy="487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963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448F3-685A-0E79-D86E-5BD4FE92D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429735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FUTURE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D3937-78E8-9C0E-8A7E-F3A2BD72C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8" y="1317523"/>
            <a:ext cx="10711262" cy="494326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3300" b="1" dirty="0"/>
              <a:t>What We Achieved:</a:t>
            </a:r>
          </a:p>
          <a:p>
            <a:pPr marL="0" indent="0">
              <a:buNone/>
            </a:pPr>
            <a:r>
              <a:rPr lang="en-IN" dirty="0"/>
              <a:t>     Fast book search</a:t>
            </a:r>
          </a:p>
          <a:p>
            <a:pPr marL="0" indent="0">
              <a:buNone/>
            </a:pPr>
            <a:r>
              <a:rPr lang="en-IN" dirty="0"/>
              <a:t>    Algorithm-based recommendations</a:t>
            </a:r>
          </a:p>
          <a:p>
            <a:pPr marL="0" indent="0">
              <a:buNone/>
            </a:pPr>
            <a:r>
              <a:rPr lang="en-IN" dirty="0"/>
              <a:t>    Book relationship graph</a:t>
            </a:r>
          </a:p>
          <a:p>
            <a:pPr marL="0" indent="0">
              <a:buNone/>
            </a:pPr>
            <a:r>
              <a:rPr lang="en-IN" dirty="0"/>
              <a:t>    Borrowing-pattern analysis</a:t>
            </a:r>
          </a:p>
          <a:p>
            <a:pPr marL="0" indent="0">
              <a:buNone/>
            </a:pPr>
            <a:r>
              <a:rPr lang="en-IN" dirty="0"/>
              <a:t>    Simple web-based architecture</a:t>
            </a:r>
          </a:p>
          <a:p>
            <a:pPr marL="0" indent="0">
              <a:buNone/>
            </a:pPr>
            <a:r>
              <a:rPr lang="en-IN" sz="3300" b="1" dirty="0"/>
              <a:t>Future Improvements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lang="en-IN" b="1" dirty="0"/>
              <a:t>AI/ML Recommendations   :</a:t>
            </a:r>
            <a:r>
              <a:rPr lang="en-IN" dirty="0"/>
              <a:t>Learn user preferences automatically.</a:t>
            </a:r>
          </a:p>
          <a:p>
            <a:pPr marL="0" indent="0">
              <a:buNone/>
            </a:pPr>
            <a:r>
              <a:rPr lang="en-IN" b="1" dirty="0"/>
              <a:t>      Ratings &amp; Reviews                :</a:t>
            </a:r>
            <a:r>
              <a:rPr lang="en-IN" dirty="0"/>
              <a:t>Use user feedback to improve recommendations. </a:t>
            </a:r>
          </a:p>
          <a:p>
            <a:pPr marL="0" indent="0">
              <a:buNone/>
            </a:pPr>
            <a:r>
              <a:rPr lang="en-IN" b="1" dirty="0"/>
              <a:t>      Voice Search                       :</a:t>
            </a:r>
            <a:r>
              <a:rPr lang="en-IN" dirty="0"/>
              <a:t>Search for books using natural language.</a:t>
            </a:r>
          </a:p>
          <a:p>
            <a:pPr marL="0" indent="0">
              <a:buNone/>
            </a:pPr>
            <a:r>
              <a:rPr lang="en-IN" b="1" dirty="0"/>
              <a:t>     Mobile Application              :</a:t>
            </a:r>
            <a:r>
              <a:rPr lang="en-IN" dirty="0"/>
              <a:t>Access recommendations anywhere.</a:t>
            </a:r>
          </a:p>
          <a:p>
            <a:pPr marL="0" indent="0">
              <a:buNone/>
            </a:pPr>
            <a:r>
              <a:rPr lang="en-IN" b="1" dirty="0"/>
              <a:t>     Cloud Scalability                  :</a:t>
            </a:r>
            <a:r>
              <a:rPr lang="en-IN" dirty="0"/>
              <a:t>Support large libraries and multiple branches.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3300" b="1" dirty="0"/>
              <a:t>Final Takeaway:</a:t>
            </a:r>
          </a:p>
          <a:p>
            <a:pPr marL="0" indent="0">
              <a:buNone/>
            </a:pPr>
            <a:r>
              <a:rPr lang="en-IN" sz="2900" dirty="0"/>
              <a:t>“We are not just helping users find books — we are helping them discover their next book.”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172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3E20C-32B5-B545-95C7-792DDD797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180" y="2613659"/>
            <a:ext cx="10515600" cy="3029903"/>
          </a:xfrm>
        </p:spPr>
        <p:txBody>
          <a:bodyPr/>
          <a:lstStyle/>
          <a:p>
            <a:pPr marL="0" indent="0" algn="ctr">
              <a:buNone/>
            </a:pPr>
            <a:r>
              <a:rPr lang="en-US" sz="8000" dirty="0"/>
              <a:t>THANK YOU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19857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114</TotalTime>
  <Words>583</Words>
  <Application>Microsoft Office PowerPoint</Application>
  <PresentationFormat>Widescreen</PresentationFormat>
  <Paragraphs>106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Ion</vt:lpstr>
      <vt:lpstr>LIBRARY BOOK RECOMMENDATION SYSTEM</vt:lpstr>
      <vt:lpstr>THE CHALLENGE</vt:lpstr>
      <vt:lpstr>OUR INNOVATION</vt:lpstr>
      <vt:lpstr>HOW IT WORKS</vt:lpstr>
      <vt:lpstr>TECHNOLOGY &amp; ALGORITHM</vt:lpstr>
      <vt:lpstr>DEMO &amp; IMPACT</vt:lpstr>
      <vt:lpstr>FUTURE VISION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Aishwaryagoud20@outlook.com</dc:creator>
  <cp:lastModifiedBy>Aishwaryagoud20@outlook.com</cp:lastModifiedBy>
  <cp:revision>7</cp:revision>
  <dcterms:created xsi:type="dcterms:W3CDTF">2026-10-03T04:36:42Z</dcterms:created>
  <dcterms:modified xsi:type="dcterms:W3CDTF">2026-10-03T06:54:39Z</dcterms:modified>
</cp:coreProperties>
</file>